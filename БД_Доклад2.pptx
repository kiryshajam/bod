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64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44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39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23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35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50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77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070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89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87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349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423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9687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179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060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28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2A886-13DD-6F44-BA2D-8E372B6DAE66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0734BB7-B7DB-9D45-8C59-174924816A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45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A97DB-3FDC-CD48-B865-A85C07992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620" y="1782698"/>
            <a:ext cx="7766936" cy="1646302"/>
          </a:xfrm>
        </p:spPr>
        <p:txBody>
          <a:bodyPr/>
          <a:lstStyle/>
          <a:p>
            <a:pPr algn="ctr"/>
            <a:r>
              <a:rPr lang="ru-RU" sz="32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Доклад №2</a:t>
            </a:r>
            <a:br>
              <a:rPr lang="ru-RU" sz="32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ru-RU" sz="32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ru-RU" sz="3200" b="1" dirty="0">
                <a:solidFill>
                  <a:srgbClr val="0E278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Результаты анализа данных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B97428-4309-DB45-82FA-EEDF51398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8179" y="5237609"/>
            <a:ext cx="3192445" cy="616642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1400" b="0" i="0" u="none" strike="noStrike" cap="none" dirty="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Выполнили студенты группы 3375</a:t>
            </a:r>
          </a:p>
          <a:p>
            <a:pPr algn="just"/>
            <a:r>
              <a:rPr lang="ru-RU" sz="1400" b="0" i="0" u="none" strike="noStrike" cap="none" dirty="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Иваньков К. </a:t>
            </a:r>
            <a:r>
              <a:rPr lang="ru-RU" sz="1400" b="0" i="0" u="none" strike="noStrike" cap="none" dirty="0" err="1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Мехтиев</a:t>
            </a:r>
            <a:r>
              <a:rPr lang="ru-RU" sz="1400" b="0" i="0" u="none" strike="noStrike" cap="none" dirty="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518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6D2CD-2B78-6442-AFD8-CC6F0EA7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прошлых сериях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89C270-EFCE-B54D-8754-0E3420107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90"/>
            <a:ext cx="8670947" cy="2430866"/>
          </a:xfrm>
        </p:spPr>
        <p:txBody>
          <a:bodyPr/>
          <a:lstStyle/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чем работали в первой работе: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об учителях базового образования Бразилии 2018 года;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— 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INEP,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открытые государственные данные;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объём данных — более 4,7 млн записей;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задача —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многоклассовая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классификация признака 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TP_ESCOLARIDADE;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сравниваемые алгоритмы — </a:t>
            </a:r>
            <a:r>
              <a:rPr lang="en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 </a:t>
            </a:r>
            <a:r>
              <a:rPr lang="en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76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4E851-AF21-E448-AA85-1666815FD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и масштаб эксперимента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949EAA-B27F-8B4B-BCBF-541E9641B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99" y="1930400"/>
            <a:ext cx="4543252" cy="2767012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данных: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размер: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4 701 023 × 132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очистки: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4 701 023 × 97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Удалено: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ID-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столбца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31 столбец с потенциальной утечкой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константных столбца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785DEC-3D53-924E-961E-15C6C10F1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1930400"/>
            <a:ext cx="46863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06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52B1A-7A57-0745-A96A-A00EB306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анализа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E0002B-3C58-B049-A938-FDD4BB4C9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19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Этапы анализа:</a:t>
            </a:r>
            <a:endParaRPr lang="ru-RU" sz="19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полного </a:t>
            </a:r>
            <a:r>
              <a:rPr lang="ru-RU" sz="19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</a:t>
            </a:r>
            <a:r>
              <a:rPr lang="en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ID-</a:t>
            </a: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столбцов;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признаков с потенциальной утечкой;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пустых и константных столбцов;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пропусков;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выделение признаков и целевой переменной;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стратифицированное разбиение </a:t>
            </a:r>
            <a:r>
              <a:rPr lang="en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train/test;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</a:t>
            </a:r>
            <a:r>
              <a:rPr lang="en" sz="19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</a:t>
            </a:r>
            <a:r>
              <a:rPr lang="en" sz="19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buFont typeface="+mj-lt"/>
              <a:buAutoNum type="arabicPeriod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моделей по метрикам, времени и важности признаков.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124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ADBA7-25E4-5246-A11F-CA50B353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Очистка и преобразование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B14F16-1E4B-A444-8742-1A77BBF6E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00" y="1597065"/>
            <a:ext cx="4851596" cy="2390146"/>
          </a:xfrm>
        </p:spPr>
        <p:txBody>
          <a:bodyPr/>
          <a:lstStyle/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делали при очистке: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удалили столбцы с префиксом 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ID_;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удалили признаки, связанные с курсами и образованием, чтобы исключить утечку;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удалили пустые и константные столбцы;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удалили строки без целевой переменной.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AB1481-0C53-FC4A-B759-FFB7CED47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581" y="1288870"/>
            <a:ext cx="4531831" cy="29740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BC8D97-0916-D646-B686-38C11880E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00" y="4396753"/>
            <a:ext cx="5542713" cy="195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9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9D30E-C316-C14C-9185-3CBA7F76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пропусков и подготовка признаков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334DF5-134D-DA40-8386-0BE4A7153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данных: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переменная: 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TP_ESCOLARIDADE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признаки в используемом файле уже были числовыми;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пропуски в признаках заполнялись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медианой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 соответствующему столбцу;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масштабирование признаков не использовалось.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CF5507-B440-A849-8325-2DC8FDD36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370278"/>
            <a:ext cx="44196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B5E04-55E5-1744-B776-686E3869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классов и разбиение выборки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968178-71D4-2348-8C4F-E3F0938F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классов: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4</a:t>
            </a:r>
          </a:p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классов: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 1 — 2 291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 2 — 8 362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 3 — 449 668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 4 — 4 240 702</a:t>
            </a:r>
          </a:p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Разбиение данных:</a:t>
            </a:r>
            <a:endParaRPr lang="ru-RU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train: </a:t>
            </a:r>
            <a:r>
              <a:rPr lang="e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3 760 818 × 96</a:t>
            </a:r>
            <a:endParaRPr lang="e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test: </a:t>
            </a:r>
            <a:r>
              <a:rPr lang="e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940 205 × 96</a:t>
            </a:r>
            <a:endParaRPr lang="e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CD94AD-53D9-2749-824A-E56F8BC4B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577" y="2160589"/>
            <a:ext cx="42672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72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74010-3809-1948-9048-4F014964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алгоритма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6A7D9-48DE-2F41-A307-6D5294F6C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</a:t>
            </a:r>
            <a:r>
              <a:rPr lang="en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iterations = 200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depth =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0.1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loss_function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MultiClass</a:t>
            </a:r>
            <a:endParaRPr lang="e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eval_metric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TotalF1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auto_class_weights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Balanced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random_seed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42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096350-D0F5-9948-A278-6E430F91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110" y="1930400"/>
            <a:ext cx="36830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FFBA3-6A6F-B14C-AAB6-89769931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алгоритам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DB60DB-D176-8241-8513-9B09E2DEB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</a:t>
            </a:r>
            <a:r>
              <a:rPr lang="en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 = multiclass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num_class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200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0.1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balanced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n_jobs</a:t>
            </a:r>
            <a:r>
              <a:rPr lang="e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-1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BE98C7-6951-294D-8953-EAA3BDE7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240" y="1930400"/>
            <a:ext cx="32131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FF7E4-03E4-BF4B-9623-0066570E6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Итоговые метрики и время обучения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4251F892-A608-FE4B-AE6F-0BC8A9AE5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6010367"/>
              </p:ext>
            </p:extLst>
          </p:nvPr>
        </p:nvGraphicFramePr>
        <p:xfrm>
          <a:off x="677863" y="2160588"/>
          <a:ext cx="859631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262">
                  <a:extLst>
                    <a:ext uri="{9D8B030D-6E8A-4147-A177-3AD203B41FA5}">
                      <a16:colId xmlns:a16="http://schemas.microsoft.com/office/drawing/2014/main" val="1256161878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748082330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4134605196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674326115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2711037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F1_weighted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F1_macro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обучения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7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endParaRPr lang="e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0.9026</a:t>
                      </a:r>
                      <a:endParaRPr lang="e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0.9276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0.4513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118.40 сек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63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LightGBM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0.9167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0.9332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0.4719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41.80 сек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017186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6EC05B-4975-CD4B-A924-127B67CC6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400551"/>
            <a:ext cx="859631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6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BABA2-C9E5-ED4E-992B-2903B240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Детальные результаты и интерпретация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155620-BC86-284A-85BC-6E665394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pPr algn="l"/>
            <a:r>
              <a:rPr lang="ru-RU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наблюдения: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 модели хорошо распознают доминирующий класс 4;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по классу 3 среднее и приемлемое;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классы 1 и 2 распознаются хуже всего;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причина — сильный дисбаланс классов;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важнейшие признаки: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TP_NORMAL_MAGISTERIO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TP_TIPO_DOCENTE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TP_ETAPA_ENSINO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TP_DEPENDENCIA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территориальные и возрастные признаки.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DD61C2-BC70-CD40-ACA7-8A6AE757C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461" y="1400138"/>
            <a:ext cx="2945241" cy="168585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6378B3-B4C3-A944-BC3B-BD4ABA6E5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210" y="4446301"/>
            <a:ext cx="2333580" cy="228339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D159D4-13FF-F14F-B650-BD98A12C2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315" y="4446300"/>
            <a:ext cx="2234291" cy="22833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8D855D-0488-9649-989A-C25AD317A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460" y="1684811"/>
            <a:ext cx="2784202" cy="24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5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6112D-C20D-484A-991A-28DD02A8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DB1855-A7EF-1C4F-AD9B-FC6E71431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многоклассовой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классификации по признаку 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TP_ESCOLARIDADE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очистка и подготовка полного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обучены и сравнены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из-за сильного дисбаланса классов наиболее показательной метрикой стала 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F1_macro;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показал лучшие результаты и меньшее время обучения;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можно использовать как базовую для дальнейших экспериментов в работе №3.</a:t>
            </a:r>
          </a:p>
        </p:txBody>
      </p:sp>
    </p:spTree>
    <p:extLst>
      <p:ext uri="{BB962C8B-B14F-4D97-AF65-F5344CB8AC3E}">
        <p14:creationId xmlns:p14="http://schemas.microsoft.com/office/powerpoint/2010/main" val="182258750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{DA39C373-38F1-3147-AC96-BF173F4B3329}tf10001060</Template>
  <TotalTime>140</TotalTime>
  <Words>516</Words>
  <Application>Microsoft Macintosh PowerPoint</Application>
  <PresentationFormat>Широкоэкранный</PresentationFormat>
  <Paragraphs>105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-webkit-standard</vt:lpstr>
      <vt:lpstr>Arial</vt:lpstr>
      <vt:lpstr>Century Gothic</vt:lpstr>
      <vt:lpstr>Times New Roman</vt:lpstr>
      <vt:lpstr>Trebuchet MS</vt:lpstr>
      <vt:lpstr>Wingdings 3</vt:lpstr>
      <vt:lpstr>Аспект</vt:lpstr>
      <vt:lpstr>Доклад №2  Результаты анализа данных</vt:lpstr>
      <vt:lpstr>В прошлых сериях</vt:lpstr>
      <vt:lpstr>Данные и масштаб эксперимента</vt:lpstr>
      <vt:lpstr>Процесс анализа</vt:lpstr>
      <vt:lpstr>Очистка и преобразование данных</vt:lpstr>
      <vt:lpstr>Обработка пропусков и подготовка признаков</vt:lpstr>
      <vt:lpstr>Распределение классов и разбиение выборки</vt:lpstr>
      <vt:lpstr>Настройка алгоритма CatBoost</vt:lpstr>
      <vt:lpstr>Настройки алгоритам LightGBM</vt:lpstr>
      <vt:lpstr>Итоговые метрики и время обучения</vt:lpstr>
      <vt:lpstr>Детальные результаты и интерпретация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№2  Результаты анализа данных</dc:title>
  <dc:creator>Microsoft Office User</dc:creator>
  <cp:lastModifiedBy>Microsoft Office User</cp:lastModifiedBy>
  <cp:revision>4</cp:revision>
  <dcterms:created xsi:type="dcterms:W3CDTF">2026-04-17T14:18:35Z</dcterms:created>
  <dcterms:modified xsi:type="dcterms:W3CDTF">2026-04-19T21:28:04Z</dcterms:modified>
</cp:coreProperties>
</file>